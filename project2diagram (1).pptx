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11" Type="http://schemas.openxmlformats.org/officeDocument/2006/relationships/image" Target="../media/image2.png"/><Relationship Id="rId10" Type="http://schemas.openxmlformats.org/officeDocument/2006/relationships/image" Target="../media/image8.png"/><Relationship Id="rId12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243650" y="254700"/>
            <a:ext cx="3162900" cy="3151200"/>
          </a:xfrm>
          <a:prstGeom prst="rect">
            <a:avLst/>
          </a:prstGeom>
          <a:noFill/>
          <a:ln cap="flat" cmpd="sng" w="12700">
            <a:solidFill>
              <a:srgbClr val="5A6B8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A6B86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600" y="967250"/>
            <a:ext cx="372425" cy="3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38860" y="1315425"/>
            <a:ext cx="1257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E"/>
                </a:solidFill>
              </a:rPr>
              <a:t>Payment Card Issuers</a:t>
            </a:r>
            <a:endParaRPr sz="800"/>
          </a:p>
        </p:txBody>
      </p:sp>
      <p:sp>
        <p:nvSpPr>
          <p:cNvPr id="57" name="Google Shape;57;p13"/>
          <p:cNvSpPr txBox="1"/>
          <p:nvPr/>
        </p:nvSpPr>
        <p:spPr>
          <a:xfrm>
            <a:off x="1569100" y="1350625"/>
            <a:ext cx="1316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D"/>
                </a:solidFill>
              </a:rPr>
              <a:t>SFTP Transfer</a:t>
            </a:r>
            <a:endParaRPr sz="800"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375" y="919862"/>
            <a:ext cx="453875" cy="4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2337" y="919862"/>
            <a:ext cx="453875" cy="4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831987" y="1339675"/>
            <a:ext cx="7746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D"/>
                </a:solidFill>
              </a:rPr>
              <a:t>S3</a:t>
            </a:r>
            <a:endParaRPr sz="800"/>
          </a:p>
        </p:txBody>
      </p:sp>
      <p:sp>
        <p:nvSpPr>
          <p:cNvPr id="61" name="Google Shape;61;p13"/>
          <p:cNvSpPr txBox="1"/>
          <p:nvPr/>
        </p:nvSpPr>
        <p:spPr>
          <a:xfrm>
            <a:off x="3752599" y="2383275"/>
            <a:ext cx="8322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D"/>
                </a:solidFill>
              </a:rPr>
              <a:t>SQS</a:t>
            </a:r>
            <a:endParaRPr sz="800"/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1750" y="1929374"/>
            <a:ext cx="453900" cy="4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3858657" y="1350631"/>
            <a:ext cx="620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D"/>
                </a:solidFill>
              </a:rPr>
              <a:t>SNS</a:t>
            </a:r>
            <a:endParaRPr sz="80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41738" y="926512"/>
            <a:ext cx="453900" cy="4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5242599" y="1315300"/>
            <a:ext cx="8322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D"/>
                </a:solidFill>
              </a:rPr>
              <a:t>SQS</a:t>
            </a:r>
            <a:endParaRPr sz="800"/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31750" y="861399"/>
            <a:ext cx="453900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>
            <a:off x="3926924" y="2982288"/>
            <a:ext cx="483586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3729349" y="3496750"/>
            <a:ext cx="8787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E"/>
                </a:solidFill>
              </a:rPr>
              <a:t>Data Analysts</a:t>
            </a:r>
            <a:endParaRPr sz="800"/>
          </a:p>
        </p:txBody>
      </p:sp>
      <p:sp>
        <p:nvSpPr>
          <p:cNvPr id="69" name="Google Shape;69;p13"/>
          <p:cNvSpPr txBox="1"/>
          <p:nvPr/>
        </p:nvSpPr>
        <p:spPr>
          <a:xfrm>
            <a:off x="6206045" y="1281224"/>
            <a:ext cx="966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D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sz="900"/>
          </a:p>
        </p:txBody>
      </p:sp>
      <p:pic>
        <p:nvPicPr>
          <p:cNvPr id="70" name="Google Shape;7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6472" y="875787"/>
            <a:ext cx="425150" cy="4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7241650" y="1277025"/>
            <a:ext cx="13635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D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sz="900"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0825" y="875763"/>
            <a:ext cx="425150" cy="4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7440395" y="2143324"/>
            <a:ext cx="966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D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sz="900"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0822" y="1737887"/>
            <a:ext cx="425150" cy="4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7566255" y="3070513"/>
            <a:ext cx="714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D"/>
                </a:solidFill>
                <a:latin typeface="Arial"/>
                <a:ea typeface="Arial"/>
                <a:cs typeface="Arial"/>
                <a:sym typeface="Arial"/>
              </a:rPr>
              <a:t>Cognito</a:t>
            </a:r>
            <a:endParaRPr sz="900"/>
          </a:p>
        </p:txBody>
      </p:sp>
      <p:pic>
        <p:nvPicPr>
          <p:cNvPr id="76" name="Google Shape;76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0837" y="2643875"/>
            <a:ext cx="425150" cy="4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2112" y="2643887"/>
            <a:ext cx="453875" cy="4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 txBox="1"/>
          <p:nvPr/>
        </p:nvSpPr>
        <p:spPr>
          <a:xfrm>
            <a:off x="6301762" y="3097787"/>
            <a:ext cx="7746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32F3D"/>
                </a:solidFill>
              </a:rPr>
              <a:t>S3</a:t>
            </a:r>
            <a:endParaRPr sz="800"/>
          </a:p>
        </p:txBody>
      </p:sp>
      <p:sp>
        <p:nvSpPr>
          <p:cNvPr id="79" name="Google Shape;79;p13"/>
          <p:cNvSpPr/>
          <p:nvPr/>
        </p:nvSpPr>
        <p:spPr>
          <a:xfrm>
            <a:off x="1771000" y="254700"/>
            <a:ext cx="2801100" cy="2404500"/>
          </a:xfrm>
          <a:prstGeom prst="rect">
            <a:avLst/>
          </a:prstGeom>
          <a:noFill/>
          <a:ln cap="flat" cmpd="sng" w="12700">
            <a:solidFill>
              <a:srgbClr val="5A6B8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A6B86"/>
              </a:solidFill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61192" y="3724745"/>
            <a:ext cx="4699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/>
        </p:nvSpPr>
        <p:spPr>
          <a:xfrm>
            <a:off x="7086097" y="4234074"/>
            <a:ext cx="620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900"/>
          </a:p>
        </p:txBody>
      </p:sp>
      <p:cxnSp>
        <p:nvCxnSpPr>
          <p:cNvPr id="82" name="Google Shape;82;p13"/>
          <p:cNvCxnSpPr/>
          <p:nvPr/>
        </p:nvCxnSpPr>
        <p:spPr>
          <a:xfrm>
            <a:off x="1322721" y="1154659"/>
            <a:ext cx="6495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3" name="Google Shape;83;p13"/>
          <p:cNvCxnSpPr/>
          <p:nvPr/>
        </p:nvCxnSpPr>
        <p:spPr>
          <a:xfrm>
            <a:off x="2483283" y="1143684"/>
            <a:ext cx="4800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4" name="Google Shape;84;p13"/>
          <p:cNvCxnSpPr/>
          <p:nvPr/>
        </p:nvCxnSpPr>
        <p:spPr>
          <a:xfrm>
            <a:off x="3453996" y="1143659"/>
            <a:ext cx="4800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5" name="Google Shape;85;p13"/>
          <p:cNvCxnSpPr/>
          <p:nvPr/>
        </p:nvCxnSpPr>
        <p:spPr>
          <a:xfrm>
            <a:off x="4160050" y="1538325"/>
            <a:ext cx="0" cy="313800"/>
          </a:xfrm>
          <a:prstGeom prst="straightConnector1">
            <a:avLst/>
          </a:prstGeom>
          <a:noFill/>
          <a:ln cap="flat" cmpd="sng" w="12700">
            <a:solidFill>
              <a:srgbClr val="535B63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6" name="Google Shape;86;p13"/>
          <p:cNvSpPr/>
          <p:nvPr/>
        </p:nvSpPr>
        <p:spPr>
          <a:xfrm flipH="1" rot="-5400000">
            <a:off x="6522119" y="3428058"/>
            <a:ext cx="747522" cy="448056"/>
          </a:xfrm>
          <a:custGeom>
            <a:rect b="b" l="l" r="r" t="t"/>
            <a:pathLst>
              <a:path extrusionOk="0" h="711200" w="13716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535B63"/>
            </a:solidFill>
            <a:prstDash val="solid"/>
            <a:miter lim="800000"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FA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 rot="5400000">
            <a:off x="7427005" y="3517029"/>
            <a:ext cx="754380" cy="264922"/>
          </a:xfrm>
          <a:custGeom>
            <a:rect b="b" l="l" r="r" t="t"/>
            <a:pathLst>
              <a:path extrusionOk="0" h="711200" w="13716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535B63"/>
            </a:solidFill>
            <a:prstDash val="solid"/>
            <a:miter lim="800000"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FA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3"/>
          <p:cNvCxnSpPr/>
          <p:nvPr/>
        </p:nvCxnSpPr>
        <p:spPr>
          <a:xfrm rot="10800000">
            <a:off x="7923400" y="2324825"/>
            <a:ext cx="1200" cy="297000"/>
          </a:xfrm>
          <a:prstGeom prst="straightConnector1">
            <a:avLst/>
          </a:prstGeom>
          <a:noFill/>
          <a:ln cap="flat" cmpd="sng" w="12700">
            <a:solidFill>
              <a:srgbClr val="535B63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9" name="Google Shape;89;p13"/>
          <p:cNvCxnSpPr/>
          <p:nvPr/>
        </p:nvCxnSpPr>
        <p:spPr>
          <a:xfrm rot="10800000">
            <a:off x="7923401" y="1477513"/>
            <a:ext cx="0" cy="224100"/>
          </a:xfrm>
          <a:prstGeom prst="straightConnector1">
            <a:avLst/>
          </a:prstGeom>
          <a:noFill/>
          <a:ln cap="flat" cmpd="sng" w="12700">
            <a:solidFill>
              <a:srgbClr val="535B63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0" name="Google Shape;90;p13"/>
          <p:cNvCxnSpPr/>
          <p:nvPr/>
        </p:nvCxnSpPr>
        <p:spPr>
          <a:xfrm>
            <a:off x="5941058" y="1094372"/>
            <a:ext cx="4800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1" name="Google Shape;91;p13"/>
          <p:cNvCxnSpPr/>
          <p:nvPr/>
        </p:nvCxnSpPr>
        <p:spPr>
          <a:xfrm>
            <a:off x="7172046" y="1088359"/>
            <a:ext cx="4800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2" name="Google Shape;92;p13"/>
          <p:cNvCxnSpPr/>
          <p:nvPr/>
        </p:nvCxnSpPr>
        <p:spPr>
          <a:xfrm>
            <a:off x="4478758" y="1143647"/>
            <a:ext cx="8379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3" name="Google Shape;93;p13"/>
          <p:cNvCxnSpPr>
            <a:endCxn id="67" idx="0"/>
          </p:cNvCxnSpPr>
          <p:nvPr/>
        </p:nvCxnSpPr>
        <p:spPr>
          <a:xfrm>
            <a:off x="4168717" y="2575488"/>
            <a:ext cx="0" cy="406800"/>
          </a:xfrm>
          <a:prstGeom prst="straightConnector1">
            <a:avLst/>
          </a:prstGeom>
          <a:noFill/>
          <a:ln cap="flat" cmpd="sng" w="12700">
            <a:solidFill>
              <a:srgbClr val="535B63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4" name="Google Shape;94;p13"/>
          <p:cNvSpPr txBox="1"/>
          <p:nvPr/>
        </p:nvSpPr>
        <p:spPr>
          <a:xfrm>
            <a:off x="252879" y="4578304"/>
            <a:ext cx="1395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E"/>
                </a:solidFill>
              </a:rPr>
              <a:t>Aaron Kao </a:t>
            </a:r>
            <a:endParaRPr sz="900">
              <a:solidFill>
                <a:srgbClr val="232F3E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2F3E"/>
                </a:solidFill>
              </a:rPr>
              <a:t>A01184153</a:t>
            </a:r>
            <a:endParaRPr sz="900">
              <a:solidFill>
                <a:srgbClr val="232F3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